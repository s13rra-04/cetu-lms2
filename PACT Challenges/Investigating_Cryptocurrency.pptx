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this as a foundations lecture, not a tools class. Level-set: most of the room has zero crypto background. Emphasize the deck deliberately avoids naming specific commercial platforms so it stays useful regardless of what the agent's office is licensed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seconds. Set expectations directly — this class is deliberately shallow-and-wide, not deep. Reassure the room that not knowing crypto going in is the normal starting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stops quickly. Flag that the payoff slides are near the end — the checklist and worked example — so the room knows the buildup has a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Keep it brief — the room wants to get to substance.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load-bearing slide for the whole lecture. If the room only remembers one thing, it's 'public ledger, addresses are not identities.'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this isn't about knowing every coin — it's about recognizing which bucket you're in early, since it changes the realistic ceiling on what tracing can deliver.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this to the legal-process slide coming up in section 03 — custody type is the first fork in the road for what process even makes sense to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concrete — walk one hop on the board if time allows. The handoff point (when to stop doing it by hand) is the practical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over-teach the mechanics. The goal is pattern recognition — 'this looks like a peel chain' is enough to know to escalate.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common misconception to correct — that a blockchain trace alone equals attribution. It doesn't. That's what section 03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point of tracing, practically speaking, is finding a company to serve process on. That's the pivot from 'interesting' to 'actionable.'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here — frame explicitly as orientation, not legal advice. Point the room to their AUSA for the current, authoritative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working checklist agents can literally paste into a draft request. Encourage them to keep a personal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'move fast' point for custodial accounts — funds can be moved out of a custodial account quickly if the exchange isn't asked to hold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parallel to the six-element provenance framework agents already know from other evidence types — that consistency is the teaching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use of the SEE YOUR OFFICE convention students already know from other lectures in this course. Engage these resources early — cryptocurrency seizure has specific handling requirements that are easy to get wrong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case name, purely illustrative. Encourage the room to voice what they'd do at each step before revealing the arrow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agents should screenshot. Give it real airtime — this is the practical payoff of the whole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mistakes that show up most often from agents new to crypto cases. Worth a beat of emphasis on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five-question framing agents have seen for other evidence types in this course — the discipline is consistent across evidence categories, not crypto-specific.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Reinforce the checklist slide as the practical artifact to keep. Take 1-2 questions and end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24407A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2440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9E2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Cryptocurrency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basic, tool-agnostic primer on tracing funds, requesting records, and taking the right next step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A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Introduction to Cryptocurrency Investigations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framings before we start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 'basic' covers, and what it doesn't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2956" cy="420624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722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7228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foundations lecture. It will not make you a blockchain analyst.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7228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recognize crypto when it shows up in a case, ask the right questions, and know the first three calls to make.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47228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technical tracing belongs to trained analysts and specialized units — this gets you far enough to engage them well.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7356" y="1554480"/>
            <a:ext cx="5362956" cy="420624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7396" y="1828800"/>
            <a:ext cx="4722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97396" y="2331720"/>
            <a:ext cx="47228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tool-agnostic. Commercial platforms consolidate, merge, and get relicensed constantly.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97396" y="3383280"/>
            <a:ext cx="47228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durable: the concepts (public ledgers, addresses, custody, KYC) and the workflow (identify, request, document, escalate).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97396" y="4434840"/>
            <a:ext cx="472287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office's licensed platform changes the how, not the what — this deck is the what.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stops, one worked example, one checklist you can use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9988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fundamentals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199887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Ledgers, addresses, wallets — vocabulary you need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21838" y="16459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2821838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21838" y="2331720"/>
            <a:ext cx="19988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the money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21838" y="2926080"/>
            <a:ext cx="199887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tracing works, and where it breaks down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95037" y="16459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5095037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95037" y="2331720"/>
            <a:ext cx="19988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process &amp; exchanges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95037" y="2926080"/>
            <a:ext cx="199887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ask to the authority you hold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68235" y="16459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7368235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68235" y="2331720"/>
            <a:ext cx="19988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&amp; evidence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68235" y="2926080"/>
            <a:ext cx="199887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Custody, documentation, and who to call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41434" y="16459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9641434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41434" y="2331720"/>
            <a:ext cx="199887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workflow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41434" y="2926080"/>
            <a:ext cx="199887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 and a next-steps checklist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11091672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3434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ties back to one question: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47091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very next action you should take?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2440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Fundamentals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you need before anything else makes sense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blockchain actually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concepts that unlock everything else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public, shared ledger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4767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blockchains (Bitcoin, Ethereum) record every transaction on a ledger anyone can read — no subpoena needed to view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Addresses, not names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1635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move between alphanumeric addresses. An address is not an identity until something else ties a person to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31927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permanent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68503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confirmed, a transaction cannot be edited or deleted. The record you find today will still be there in five years.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18795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&amp; confirmations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55371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grouped into blocks and added in order. More confirmations after a transaction means higher certainty it's final.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cryptocurrency — and why it matters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in front of you changes what's realistically traceable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83864" cy="109728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55648"/>
            <a:ext cx="3483864" cy="310896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ledgers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· Ethereum · most major coins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026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publicly visible on the ledger. Tracing is possible — the address history is right there.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45920"/>
            <a:ext cx="3483864" cy="109728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0" name="Shape 8"/>
          <p:cNvSpPr/>
          <p:nvPr/>
        </p:nvSpPr>
        <p:spPr>
          <a:xfrm>
            <a:off x="4352544" y="1755648"/>
            <a:ext cx="3483864" cy="310896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96596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coins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81144" y="2395728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Monero and similar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81144" y="2788920"/>
            <a:ext cx="3026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Sender, receiver, and amount can be obscured by design. Tracing is significantly harder and often requires specialized capability.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45920"/>
            <a:ext cx="3483864" cy="109728"/>
          </a:xfrm>
          <a:prstGeom prst="rect">
            <a:avLst/>
          </a:prstGeom>
          <a:solidFill>
            <a:srgbClr val="C0A062"/>
          </a:solidFill>
          <a:ln/>
        </p:spPr>
      </p:sp>
      <p:sp>
        <p:nvSpPr>
          <p:cNvPr id="15" name="Shape 13"/>
          <p:cNvSpPr/>
          <p:nvPr/>
        </p:nvSpPr>
        <p:spPr>
          <a:xfrm>
            <a:off x="8156448" y="1755648"/>
            <a:ext cx="3483864" cy="310896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96596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5048" y="2395728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Tether, USDC and similar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85048" y="2788920"/>
            <a:ext cx="302666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built on a transparent ledger, but the issuer is a centralized company — which means it may be able to freeze funds.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074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category you're dealing with before you decide tracing is or isn't possible.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and custody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funds sit determines who you can serve process 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Custodial (exchange-held)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third-party platform holds the keys on the user's behalf. There is a company you can identify and serve legal process 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63840" y="2011680"/>
            <a:ext cx="3566160" cy="5029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 — a company exists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916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 (self-hosted)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individual holds their own private keys, often in software on a device. No intermediary company to subpoena.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429000"/>
            <a:ext cx="3566160" cy="5029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429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 party to compel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916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17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wallet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49834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keys stored offline on a physical device. Funds only move with physical or credential access to that device.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3840" y="4846320"/>
            <a:ext cx="3566160" cy="50292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4846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evidence angle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2440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Following the Money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basic tracing works — and exactly where it stops working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transaction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data points every basic trace starts from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7178" cy="2011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2201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22014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address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20141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funds came from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70098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90138" y="1828800"/>
            <a:ext cx="2567178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573018" y="1965960"/>
            <a:ext cx="2201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73018" y="2468880"/>
            <a:ext cx="22014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address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73018" y="3200400"/>
            <a:ext cx="220141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funds went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11596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31636" y="1828800"/>
            <a:ext cx="2567178" cy="20116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6414516" y="1965960"/>
            <a:ext cx="2201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14516" y="2468880"/>
            <a:ext cx="22014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hash (txid)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4516" y="3200400"/>
            <a:ext cx="220141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fingerprint of that transfer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53094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73134" y="1828800"/>
            <a:ext cx="2567178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9256014" y="1965960"/>
            <a:ext cx="22014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56014" y="2468880"/>
            <a:ext cx="220141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&amp; timestamp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56014" y="3200400"/>
            <a:ext cx="220141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much, and exactly when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tracing is following this chain of four data points from address to address, transaction to transaction.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11091672" cy="96012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83480"/>
            <a:ext cx="10543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manageable by hand for a handful of hops. Beyond that, volume and obfuscation make specialized analysis capability the right tool — know when to hand off.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obfuscation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only — recognize these when they show up in a trace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Mixers / tumblers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4767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that pool funds from many users and redistribute them, breaking the direct address-to-address link.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Chain-hopping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1635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between different cryptocurrencies mid-trail to exit the ledger you were following.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31927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Peel chains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68503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sending small amounts to a new address while the bulk continues on — designed to fragment the trail.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18795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coin conversion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55371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funds into a privacy-focused coin, then back out, to break traceability at that step.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blockchain analysis cannot tell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Equally important — recognize the limits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6184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an address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94960" y="161848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Ownership requires corroboration outside the ledger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27685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behind a transaction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227685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ledger shows movement, not motive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293522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 agreements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293522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Side deals and cash legs leave no on-chain trace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59359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94960" y="35935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transaction confirms funds moved, not where anyone was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4251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for a finding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42519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Provenance is your responsibility, not the ledger's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solidFill>
            <a:srgbClr val="FBEEEF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34924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blockchain shows movement of value. Attribution to a person still comes from KYC records, subscriber data, and traditional investigative steps.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2440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Process &amp; Exchanges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ask to the authority you hold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the exchange or VASP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company behind the address is the turning point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on-ramp or off-ramp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4767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funds enter or exit the crypto ecosystem into a bank account or card? That's usually a regulated company.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a deposit/withdrawal address pattern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1635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Exchange-controlled addresses often have recognizable clustering behavior — a specialist or platform can often identify the exchange.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31927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entity is a Virtual Asset Service Provider (VASP)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68503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VASPs generally perform KYC — meaning identity records exist somewhere to request.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18795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jurisdiction early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55371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company is incorporated and licensed shapes which legal process applies and how long it takes.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process for exchanges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process to what you actually need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1051560"/>
          </a:xfrm>
          <a:prstGeom prst="rect">
            <a:avLst/>
          </a:prstGeom>
          <a:solidFill>
            <a:srgbClr val="D9E2F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Subpoena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86200" y="169164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7251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691640"/>
            <a:ext cx="6793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subscriber / KYC info: name, address, ID on file, account creation date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291840" cy="1051560"/>
          </a:xfrm>
          <a:prstGeom prst="rect">
            <a:avLst/>
          </a:prstGeom>
          <a:solidFill>
            <a:srgbClr val="B9CBF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order / 2703(d)-type order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86200" y="292608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926080"/>
            <a:ext cx="7251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926080"/>
            <a:ext cx="6793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Non-content records: transaction history, linked accounts, IP and device logs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291840" cy="1051560"/>
          </a:xfrm>
          <a:prstGeom prst="rect">
            <a:avLst/>
          </a:prstGeom>
          <a:solidFill>
            <a:srgbClr val="C0A06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warrant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86200" y="4160520"/>
            <a:ext cx="457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389120" y="4160520"/>
            <a:ext cx="72511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160520"/>
            <a:ext cx="679399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more sensitive records where required — highest evidentiary bar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confirm current legal-process standards with your AUSA and legal counsel — this is a starting orientation, not final guidance.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request from an exchange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starting checklist — not exhaustive, adjust to the legal process used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62956" cy="402336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identity records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246888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DOB, address on file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310896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ID copies submitted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749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374904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 date &amp; method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4389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438912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email, phone, IP at signup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7356" y="1645920"/>
            <a:ext cx="5362956" cy="4023360"/>
          </a:xfrm>
          <a:prstGeom prst="rect">
            <a:avLst/>
          </a:prstGeom>
          <a:solidFill>
            <a:srgbClr val="EEF3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97396" y="1874520"/>
            <a:ext cx="47228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&amp; transaction records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97396" y="24688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5724" y="246888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history for the account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97396" y="31089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35724" y="310896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Linked/associated accounts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97396" y="3749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35724" y="374904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IP and device history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97396" y="43891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35724" y="4389120"/>
            <a:ext cx="43571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Deposit/withdrawal destination addresses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2440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Seizure &amp; Evidence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Custody, documentation, and who to call when funds are on the 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Seizing cryptocurrency — practical basics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to get right before funds move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controls the funds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94767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seed phrase, a private key, or exchange-account credentials — seizure means securing whichever one applies.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45059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fast on custodial accounts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1635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exchange-held funds, a timely legal request to freeze or restrain is usually the first actionable step.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31927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seed phrases and keys as physical evidence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68503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written keys, hardware wallets, and devices with the same custody discipline as any other physical evidence.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18795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 your evidence and asset-forfeiture resources early — 18 U.S.C. §§ 981, 982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553712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 seizure has specific handling requirements — don't improvise this step alone.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discipline for crypto evidence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MUST-PASS CONTENT — six elements, every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514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/ exchange account identifier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address or account examined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7304" y="1691640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4337304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37304" y="2194560"/>
            <a:ext cx="3514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or platform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37304" y="2697480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ledger or exchange the record comes from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5968" y="1691640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/>
          <p:nvPr/>
        </p:nvSpPr>
        <p:spPr>
          <a:xfrm>
            <a:off x="8125968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5968" y="2194560"/>
            <a:ext cx="3514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hash / block reference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5968" y="2697480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transaction or block cited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514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and time of the query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480560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and links can change — timestamp the pull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37304" y="3474720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9"/>
          <p:cNvSpPr/>
          <p:nvPr/>
        </p:nvSpPr>
        <p:spPr>
          <a:xfrm>
            <a:off x="4337304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37304" y="3977640"/>
            <a:ext cx="3514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used to obtain the record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37304" y="4480560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explorer, licensed platform, or exchange production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25968" y="3474720"/>
            <a:ext cx="411480" cy="4114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5" name="Text 23"/>
          <p:cNvSpPr/>
          <p:nvPr/>
        </p:nvSpPr>
        <p:spPr>
          <a:xfrm>
            <a:off x="8125968" y="3474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5968" y="3977640"/>
            <a:ext cx="35143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 of the export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5968" y="4480560"/>
            <a:ext cx="35143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file, hash of that file, and where it's stored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3949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 as chain-of-custody for physical evidence — a different medium, the same principle.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where to escalate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expected to do this alone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3840480"/>
          </a:xfrm>
          <a:prstGeom prst="rect">
            <a:avLst/>
          </a:prstGeom>
          <a:solidFill>
            <a:srgbClr val="FBF6EC"/>
          </a:solidFill>
          <a:ln w="19050">
            <a:solidFill>
              <a:srgbClr val="C0A0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8A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OFFICE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FBI-internal capabilities and specialist teams exist for cryptocurrency investigations beyond what's covered here. U.S. agents — your supervisor or office intelligence analyst is the right first pointer. Foreign partners — domestic equivalents almost certainly exist; ask your home agency.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566160"/>
            <a:ext cx="128016" cy="128016"/>
          </a:xfrm>
          <a:prstGeom prst="ellipse">
            <a:avLst/>
          </a:prstGeom>
          <a:solidFill>
            <a:srgbClr val="C0A062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520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Currency Response Team (VCRT)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8404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cryptocurrency tracing and seizure support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128016" cy="128016"/>
          </a:xfrm>
          <a:prstGeom prst="ellipse">
            <a:avLst/>
          </a:prstGeom>
          <a:solidFill>
            <a:srgbClr val="C0A06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297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Assets Unit (VAU)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461772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Program-level virtual asset investigative 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5120640"/>
            <a:ext cx="128016" cy="128016"/>
          </a:xfrm>
          <a:prstGeom prst="ellipse">
            <a:avLst/>
          </a:prstGeom>
          <a:solidFill>
            <a:srgbClr val="C0A062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5074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Analysis Response Team (CART)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539496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forensics — devices, wallets, seized hardware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2440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Workflow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worked example, then the checklist you'll actually use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QUIET LEDGER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questions, five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00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victim reports a ransom payment in Bitcoin. What now?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37960" y="16002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0" y="160020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exact address and transaction hash before anything else moves.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3957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funds go from that first address?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37960" y="23957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49440" y="2395728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immediate hops — by hand or with your office's licensed platform.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19125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funds land at a known exchange?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319125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0" y="3191256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yes, that's your legal-process target. Identify the entity and jurisdiction.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867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98678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trail goes through a mixer?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39867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9440" y="3986784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pattern, don't force a trace past it — escalate to a specialist team.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78231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A0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47823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are confirmed at a custodial exchange. Next?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478231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478231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quickly on a legal request to freeze the account, per section 03.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crypto shows up in your case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actionable next-steps checklist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566928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0078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10268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exact address, transaction hash, amount, and timestamp — before anything else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29514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10268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type of asset (transparent ledger, privacy coin, or stablecoin)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1091672" cy="566928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88950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834640"/>
            <a:ext cx="10268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forward to see if funds land at an identifiable exchange or VASP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48386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10268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jurisdiction and identify the right legal process (subpoena, order, or warrant)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91672" cy="566928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07822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078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10268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and send the request — don't wait on a full trace to start this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09167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467258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672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617720"/>
            <a:ext cx="10268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provenance on every record: source, method, date, and preservation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91672" cy="566928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5266944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266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5212080"/>
            <a:ext cx="10268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your office's crypto resources (VCRT / VAU) if the trail gets complex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to avoid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that cost time or weaken a finding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618488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an address as an identity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1560" y="198424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address alone is not attribution — corroborate before you charge or brief it that way.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532888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for a complete trace before sending process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51560" y="289864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process takes time regardless — start it as soon as you have an exchange target.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3447288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provenance documentation 'for now'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51560" y="381304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and links change; an undocumented record loses value fast, and can't be reconstructed later.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361688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trace through a mixer alone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51560" y="4727448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handoff point — this is specialist territory, not a solo effort.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trial, opposing counsel will ask: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tool or method produced this trace?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the exact address and transaction hash?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did you run the query?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was the output preserved?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else had access to the wallet or keys?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solidFill>
            <a:srgbClr val="24407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answer cleanly — the finding stands. If you can't — it's weakened. Provenance discipline is what answers these.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2440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 isn't a specialty you need before you can act.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data source you now know how to recognize, trace at a basic level, and hand off at the right moment.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10058400" cy="1737360"/>
          </a:xfrm>
          <a:prstGeom prst="rect">
            <a:avLst/>
          </a:prstGeom>
          <a:solidFill>
            <a:srgbClr val="24407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away today: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4114800"/>
            <a:ext cx="9326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first. Identify the exchange. Send process early. Document provenance. Escalate when it gets complex.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5778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A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Bring case-specific scenarios to your office's crypto resources — this deck gets you to the first call, not the last one.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FBI Cyber Investigation Training  ·  Investigating Cryptocurrency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 ·  Slide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2026-07-14T18:35:22Z</dcterms:created>
  <dcterms:modified xsi:type="dcterms:W3CDTF">2026-07-14T18:35:22Z</dcterms:modified>
</cp:coreProperties>
</file>